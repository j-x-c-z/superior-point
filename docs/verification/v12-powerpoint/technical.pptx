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季度完成量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季度完成量</c:v>
                </c:pt>
              </c:strCache>
            </c:strRef>
          </c:tx>
          <c:spPr>
            <a:solidFill>
              <a:srgbClr val="185A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A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171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CE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5A7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52</c:v>
                </c:pt>
                <c:pt idx="3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419100" y="419100"/>
            <a:ext cx="11353800" cy="60198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419100" y="419100"/>
            <a:ext cx="11353800" cy="38100"/>
          </a:xfrm>
          <a:prstGeom prst="rect">
            <a:avLst/>
          </a:prstGeom>
          <a:solidFill>
            <a:srgbClr val="185A79"/>
          </a:solidFill>
          <a:ln w="19050">
            <a:solidFill>
              <a:srgbClr val="185A79"/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571500" y="685800"/>
            <a:ext cx="1120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SUPERIOR POINT / 16:9</a:t>
            </a:r>
            <a:endParaRPr lang="en-US" sz="1350" dirty="0"/>
          </a:p>
        </p:txBody>
      </p:sp>
      <p:sp>
        <p:nvSpPr>
          <p:cNvPr id="6" name="对象"/>
          <p:cNvSpPr/>
          <p:nvPr/>
        </p:nvSpPr>
        <p:spPr>
          <a:xfrm>
            <a:off x="571500" y="2762250"/>
            <a:ext cx="11201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标尺精度 · 设计语言</a:t>
            </a:r>
            <a:endParaRPr lang="en-US" sz="3600" dirty="0"/>
          </a:p>
        </p:txBody>
      </p:sp>
      <p:sp>
        <p:nvSpPr>
          <p:cNvPr id="7" name="对象"/>
          <p:cNvSpPr/>
          <p:nvPr/>
        </p:nvSpPr>
        <p:spPr>
          <a:xfrm>
            <a:off x="571500" y="4238625"/>
            <a:ext cx="11201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让内容形成清晰的节奏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571500" y="5238750"/>
            <a:ext cx="1120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原创主题 / 标题 · 内容 · 数据 · 图像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419100" y="666750"/>
            <a:ext cx="11353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从信息到叙事</a:t>
            </a:r>
            <a:endParaRPr lang="en-US" sz="3600" dirty="0"/>
          </a:p>
        </p:txBody>
      </p:sp>
      <p:sp>
        <p:nvSpPr>
          <p:cNvPr id="4" name="对象"/>
          <p:cNvSpPr/>
          <p:nvPr/>
        </p:nvSpPr>
        <p:spPr>
          <a:xfrm>
            <a:off x="419100" y="1790700"/>
            <a:ext cx="11353800" cy="38100"/>
          </a:xfrm>
          <a:prstGeom prst="rect">
            <a:avLst/>
          </a:prstGeom>
          <a:solidFill>
            <a:srgbClr val="185A79"/>
          </a:solidFill>
          <a:ln w="19050">
            <a:solidFill>
              <a:srgbClr val="185A79"/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419100" y="2190750"/>
            <a:ext cx="5600700" cy="30480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sp>
        <p:nvSpPr>
          <p:cNvPr id="6" name="对象"/>
          <p:cNvSpPr/>
          <p:nvPr/>
        </p:nvSpPr>
        <p:spPr>
          <a:xfrm>
            <a:off x="6172200" y="2190750"/>
            <a:ext cx="5600700" cy="30480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sp>
        <p:nvSpPr>
          <p:cNvPr id="7" name="对象"/>
          <p:cNvSpPr/>
          <p:nvPr/>
        </p:nvSpPr>
        <p:spPr>
          <a:xfrm>
            <a:off x="609600" y="2381250"/>
            <a:ext cx="5219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结构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609600" y="3048000"/>
            <a:ext cx="52197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先给读者一个方向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再展开关键证据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最后留下行动线索</a:t>
            </a:r>
            <a:endParaRPr lang="en-US" sz="1950" dirty="0"/>
          </a:p>
        </p:txBody>
      </p:sp>
      <p:sp>
        <p:nvSpPr>
          <p:cNvPr id="9" name="对象"/>
          <p:cNvSpPr/>
          <p:nvPr/>
        </p:nvSpPr>
        <p:spPr>
          <a:xfrm>
            <a:off x="6362700" y="2381250"/>
            <a:ext cx="5219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节奏</a:t>
            </a:r>
            <a:endParaRPr lang="en-US" sz="1350" dirty="0"/>
          </a:p>
        </p:txBody>
      </p:sp>
      <p:sp>
        <p:nvSpPr>
          <p:cNvPr id="10" name="对象"/>
          <p:cNvSpPr/>
          <p:nvPr/>
        </p:nvSpPr>
        <p:spPr>
          <a:xfrm>
            <a:off x="6362700" y="3048000"/>
            <a:ext cx="52197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标题建立层级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留白区分段落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颜色标记重点</a:t>
            </a:r>
            <a:endParaRPr lang="en-US" sz="1950" dirty="0"/>
          </a:p>
        </p:txBody>
      </p:sp>
      <p:sp>
        <p:nvSpPr>
          <p:cNvPr id="11" name="对象"/>
          <p:cNvSpPr/>
          <p:nvPr/>
        </p:nvSpPr>
        <p:spPr>
          <a:xfrm>
            <a:off x="419100" y="5905500"/>
            <a:ext cx="11353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共同样例内容 / 主题决定层级与阅读密度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419100" y="666750"/>
            <a:ext cx="11353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把趋势变成判断</a:t>
            </a:r>
            <a:endParaRPr lang="en-US" sz="3600" dirty="0"/>
          </a:p>
        </p:txBody>
      </p:sp>
      <p:sp>
        <p:nvSpPr>
          <p:cNvPr id="4" name="对象"/>
          <p:cNvSpPr/>
          <p:nvPr/>
        </p:nvSpPr>
        <p:spPr>
          <a:xfrm>
            <a:off x="419100" y="1714500"/>
            <a:ext cx="1135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季度完成量 / 演示数据</a:t>
            </a:r>
            <a:endParaRPr lang="en-US" sz="1350" dirty="0"/>
          </a:p>
        </p:txBody>
      </p:sp>
      <p:sp>
        <p:nvSpPr>
          <p:cNvPr id="5" name="对象"/>
          <p:cNvSpPr/>
          <p:nvPr/>
        </p:nvSpPr>
        <p:spPr>
          <a:xfrm>
            <a:off x="419100" y="2333625"/>
            <a:ext cx="11353800" cy="3286125"/>
          </a:xfrm>
          <a:prstGeom prst="rect">
            <a:avLst/>
          </a:prstGeom>
          <a:solidFill>
            <a:srgbClr val="F8FAFC"/>
          </a:solidFill>
          <a:ln w="19050">
            <a:solidFill>
              <a:srgbClr val="DCE3EA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71500" y="2524125"/>
          <a:ext cx="11049000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对象"/>
          <p:cNvSpPr/>
          <p:nvPr/>
        </p:nvSpPr>
        <p:spPr>
          <a:xfrm>
            <a:off x="419100" y="5857875"/>
            <a:ext cx="56769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→ 76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6096000" y="5905500"/>
            <a:ext cx="5676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样例值 / 非实时数据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419100" y="666750"/>
            <a:ext cx="11353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图像，也是一种语言</a:t>
            </a:r>
            <a:endParaRPr lang="en-US" sz="3600" dirty="0"/>
          </a:p>
        </p:txBody>
      </p:sp>
      <p:sp>
        <p:nvSpPr>
          <p:cNvPr id="4" name="对象"/>
          <p:cNvSpPr/>
          <p:nvPr/>
        </p:nvSpPr>
        <p:spPr>
          <a:xfrm>
            <a:off x="419100" y="2333625"/>
            <a:ext cx="5334000" cy="3238500"/>
          </a:xfrm>
          <a:prstGeom prst="rect">
            <a:avLst/>
          </a:prstGeom>
          <a:solidFill>
            <a:srgbClr val="D9E6EC"/>
          </a:solidFill>
          <a:ln w="19050">
            <a:solidFill>
              <a:srgbClr val="4C6370"/>
            </a:solidFill>
            <a:prstDash val="solid"/>
          </a:ln>
        </p:spPr>
      </p:sp>
      <p:pic>
        <p:nvPicPr>
          <p:cNvPr id="5" name="Image 0" descr="对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486025"/>
            <a:ext cx="5029200" cy="2933700"/>
          </a:xfrm>
          <a:prstGeom prst="rect">
            <a:avLst/>
          </a:prstGeom>
        </p:spPr>
      </p:pic>
      <p:sp>
        <p:nvSpPr>
          <p:cNvPr id="6" name="对象"/>
          <p:cNvSpPr/>
          <p:nvPr/>
        </p:nvSpPr>
        <p:spPr>
          <a:xfrm>
            <a:off x="5905500" y="2714625"/>
            <a:ext cx="5867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山色与暖光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5905500" y="3714750"/>
            <a:ext cx="5867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原创几何风景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无外部加载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图片与文字独立可编辑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5905500" y="5381625"/>
            <a:ext cx="952500" cy="76200"/>
          </a:xfrm>
          <a:prstGeom prst="rect">
            <a:avLst/>
          </a:prstGeom>
          <a:solidFill>
            <a:srgbClr val="185A79"/>
          </a:solidFill>
          <a:ln w="19050">
            <a:solidFill>
              <a:srgbClr val="185A79"/>
            </a:solidFill>
            <a:prstDash val="solid"/>
          </a:ln>
        </p:spPr>
      </p:sp>
      <p:sp>
        <p:nvSpPr>
          <p:cNvPr id="9" name="对象"/>
          <p:cNvSpPr/>
          <p:nvPr/>
        </p:nvSpPr>
        <p:spPr>
          <a:xfrm>
            <a:off x="419100" y="6000750"/>
            <a:ext cx="11353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图像 + 面板 + 标注 / 可编辑组合元素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419100" y="1238250"/>
            <a:ext cx="11353800" cy="114300"/>
          </a:xfrm>
          <a:prstGeom prst="rect">
            <a:avLst/>
          </a:prstGeom>
          <a:solidFill>
            <a:srgbClr val="185A79"/>
          </a:solidFill>
          <a:ln w="19050">
            <a:solidFill>
              <a:srgbClr val="185A79"/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419100" y="3714750"/>
            <a:ext cx="1135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下一章节</a:t>
            </a:r>
            <a:endParaRPr lang="en-US" sz="3600" dirty="0"/>
          </a:p>
        </p:txBody>
      </p:sp>
      <p:sp>
        <p:nvSpPr>
          <p:cNvPr id="5" name="对象"/>
          <p:cNvSpPr/>
          <p:nvPr/>
        </p:nvSpPr>
        <p:spPr>
          <a:xfrm>
            <a:off x="419100" y="5095875"/>
            <a:ext cx="11353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20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让证据引出下一步行动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标尺精度 · 设计语言 · 演示文稿</dc:title>
  <dc:subject>可编辑的 PowerPoint 幻灯片</dc:subject>
  <dc:creator>Superior Point Web Studio</dc:creator>
  <cp:lastModifiedBy>Superior Point Web Studio</cp:lastModifiedBy>
  <cp:revision>1</cp:revision>
  <dcterms:created xsi:type="dcterms:W3CDTF">2026-10-12T01:21:51Z</dcterms:created>
  <dcterms:modified xsi:type="dcterms:W3CDTF">2026-10-12T01:21:51Z</dcterms:modified>
</cp:coreProperties>
</file>